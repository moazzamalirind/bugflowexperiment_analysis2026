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275" r:id="rId3"/>
    <p:sldId id="277" r:id="rId4"/>
    <p:sldId id="279" r:id="rId5"/>
    <p:sldId id="282" r:id="rId6"/>
    <p:sldId id="280" r:id="rId7"/>
    <p:sldId id="281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00DE"/>
    <a:srgbClr val="AA3377"/>
    <a:srgbClr val="E1CCF0"/>
    <a:srgbClr val="5447FF"/>
    <a:srgbClr val="F5A1AB"/>
    <a:srgbClr val="500050"/>
    <a:srgbClr val="008600"/>
    <a:srgbClr val="D5B8EA"/>
    <a:srgbClr val="B889DB"/>
    <a:srgbClr val="FAD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508" autoAdjust="0"/>
  </p:normalViewPr>
  <p:slideViewPr>
    <p:cSldViewPr snapToGrid="0">
      <p:cViewPr varScale="1">
        <p:scale>
          <a:sx n="85" d="100"/>
          <a:sy n="85" d="100"/>
        </p:scale>
        <p:origin x="5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8:34:40.366"/>
    </inkml:context>
    <inkml:brush xml:id="br0">
      <inkml:brushProperty name="width" value="0.1" units="cm"/>
      <inkml:brushProperty name="height" value="0.2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1 750,'2'0,"1"1,-1 0,1 0,-1 0,0 0,1 0,-1 0,0 1,0-1,0 1,0 0,0-1,3 4,1 1,137 131,-86-78,77 60,-13-38,-119-80,0 0,0 0,0 0,0 0,0-1,1 1,-1 0,0-1,0 0,1 1,-1-1,0 0,1 0,-1 0,0-1,1 1,-1-1,0 1,0-1,1 0,-1 1,0-1,0 0,0-1,0 1,0 0,0 0,-1-1,1 1,0-1,-1 0,1 0,-1 1,3-4,4-7,-1 1,0-1,-1 0,7-18,53-100,-47 96,5-11,52-71,-1 26,121-112,105-57,-81 91,-177 135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74FC3-AAC1-45A5-8B56-8CF3A0286BF0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CEF9-A298-4E53-AC8E-D36691E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Clayton Palmer</a:t>
            </a:r>
          </a:p>
          <a:p>
            <a:r>
              <a:rPr lang="en-US" dirty="0"/>
              <a:t>Craig Ellsworth</a:t>
            </a:r>
          </a:p>
          <a:p>
            <a:r>
              <a:rPr lang="en-US" dirty="0"/>
              <a:t>Ted Kennedy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FCEF9-A298-4E53-AC8E-D36691E036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29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Moazzam and I set out to quantify how increasing the number of days of steady releases from Glen Canyon Dam that allow aquatic invertebrates to lay and hatch eggs from 0 to 30 days per month reduced hydropower revenues.</a:t>
            </a:r>
          </a:p>
          <a:p>
            <a:endParaRPr lang="en-US" dirty="0"/>
          </a:p>
          <a:p>
            <a:r>
              <a:rPr lang="en-US" dirty="0"/>
              <a:t>3 key ideas emerged from our work.</a:t>
            </a:r>
          </a:p>
          <a:p>
            <a:endParaRPr lang="en-US" dirty="0"/>
          </a:p>
          <a:p>
            <a:r>
              <a:rPr lang="en-US" dirty="0"/>
              <a:t>I will first share the key ideas. Then show some of our work that supports each idea. I will finish with next steps.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FCEF9-A298-4E53-AC8E-D36691E036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1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7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7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3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2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5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5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5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5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638CC-7D2D-4228-9864-B2BCB87EDF58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4304D-6371-4780-A214-DF6D300CD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david.rosenberg@usu.edu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david.rosenberg@usu.edu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389" y="1343367"/>
            <a:ext cx="11473264" cy="1219489"/>
          </a:xfrm>
        </p:spPr>
        <p:txBody>
          <a:bodyPr>
            <a:normAutofit fontScale="90000"/>
          </a:bodyPr>
          <a:lstStyle/>
          <a:p>
            <a:pPr>
              <a:lnSpc>
                <a:spcPts val="4800"/>
              </a:lnSpc>
            </a:pPr>
            <a:r>
              <a:rPr lang="en-US" sz="4400" b="1" dirty="0">
                <a:solidFill>
                  <a:srgbClr val="1000DE"/>
                </a:solidFill>
                <a:latin typeface="+mn-lt"/>
              </a:rPr>
              <a:t>Bugs pay for days of steady reservoir releases</a:t>
            </a:r>
            <a:br>
              <a:rPr lang="en-US" sz="4400" b="1" dirty="0">
                <a:solidFill>
                  <a:srgbClr val="1000DE"/>
                </a:solidFill>
                <a:latin typeface="+mn-lt"/>
              </a:rPr>
            </a:br>
            <a:r>
              <a:rPr lang="en-US" sz="3300" b="1" dirty="0">
                <a:solidFill>
                  <a:srgbClr val="7030A0"/>
                </a:solidFill>
                <a:latin typeface="+mn-lt"/>
              </a:rPr>
              <a:t>to reduce costs to hydropower customers and sustain funds to maintain infrastructure</a:t>
            </a:r>
            <a:endParaRPr lang="en-US" sz="3300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2396" y="3064872"/>
            <a:ext cx="3675016" cy="12988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b="1" dirty="0"/>
              <a:t>David E. Rosenberg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b="1" dirty="0"/>
              <a:t>Moazzam Rind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b="1" dirty="0">
                <a:solidFill>
                  <a:srgbClr val="7030A0"/>
                </a:solidFill>
                <a:hlinkClick r:id="rId3"/>
              </a:rPr>
              <a:t>david.rosenberg@usu.edu</a:t>
            </a:r>
            <a:endParaRPr lang="en-US" sz="2200" b="1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b="1" dirty="0">
                <a:solidFill>
                  <a:srgbClr val="1000DE"/>
                </a:solidFill>
              </a:rPr>
              <a:t>rosenberg.usu.edu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0CC6E-C8BF-2956-8B8B-00BF0F473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6" y="4865733"/>
            <a:ext cx="2885343" cy="1831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6AFD294E-36B1-5162-0D8C-663A07C8C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272" y="4865733"/>
            <a:ext cx="1589310" cy="18388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DFD9A2-EDA4-496B-0847-87A359FFFD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511" t="32756" r="35633" b="23734"/>
          <a:stretch/>
        </p:blipFill>
        <p:spPr>
          <a:xfrm>
            <a:off x="4822475" y="4873084"/>
            <a:ext cx="1272546" cy="1831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CF69A8BA-154B-15DD-ABEF-0182787145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4" r="29172"/>
          <a:stretch/>
        </p:blipFill>
        <p:spPr bwMode="auto">
          <a:xfrm>
            <a:off x="7784032" y="4295145"/>
            <a:ext cx="1908473" cy="20171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person, baby, indoor, striped&#10;&#10;Description automatically generated">
            <a:extLst>
              <a:ext uri="{FF2B5EF4-FFF2-40B4-BE49-F238E27FC236}">
                <a16:creationId xmlns:a16="http://schemas.microsoft.com/office/drawing/2014/main" id="{CF2E8B8B-FF56-8C4F-BA30-83E7BBD03C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686" y="3500086"/>
            <a:ext cx="1882589" cy="25109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30C1749-6EBB-E73F-EFB6-C107FAA45451}"/>
              </a:ext>
            </a:extLst>
          </p:cNvPr>
          <p:cNvSpPr txBox="1">
            <a:spLocks/>
          </p:cNvSpPr>
          <p:nvPr/>
        </p:nvSpPr>
        <p:spPr>
          <a:xfrm>
            <a:off x="9649611" y="6072779"/>
            <a:ext cx="2542389" cy="785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b="1" dirty="0"/>
              <a:t>Aden Arnold Rosenberg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000DE"/>
                </a:solidFill>
              </a:rPr>
              <a:t>Jan. 3, 2023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b="1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68B29-5518-5130-02B0-8034078C97B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1893" r="14209"/>
          <a:stretch/>
        </p:blipFill>
        <p:spPr>
          <a:xfrm>
            <a:off x="6229914" y="4880434"/>
            <a:ext cx="1419225" cy="18241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587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57A-802C-42E0-BD1C-D48AB46B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98341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1000DE"/>
                </a:solidFill>
                <a:latin typeface="+mn-lt"/>
              </a:rPr>
              <a:t>Key Ideas</a:t>
            </a:r>
            <a:endParaRPr lang="en-US" sz="4000" b="1" u="sng" dirty="0">
              <a:solidFill>
                <a:srgbClr val="1000DE"/>
              </a:solidFill>
              <a:latin typeface="+mn-lt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9B8D169-3B0D-2ABA-2E7B-CA1318C012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43752" y="1959629"/>
            <a:ext cx="7407345" cy="415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3225" indent="-403225">
              <a:buFont typeface="+mj-lt"/>
              <a:buAutoNum type="arabicPeriod"/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Bug flows lower revenue </a:t>
            </a:r>
            <a:r>
              <a:rPr lang="en-US" sz="3200" b="1" dirty="0">
                <a:solidFill>
                  <a:srgbClr val="1000D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=&gt;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Time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&amp; </a:t>
            </a:r>
            <a: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Stress</a:t>
            </a:r>
            <a:endParaRPr lang="en-US" sz="32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03225" indent="-403225">
              <a:buNone/>
            </a:pPr>
            <a:endParaRPr lang="en-US" sz="32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03225" indent="-403225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</a:rPr>
              <a:t>2. 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Move days of steady flows to Spring/Fall months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403225" indent="-403225">
              <a:buNone/>
            </a:pP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03225" indent="-403225">
              <a:buNone/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 Create ecosystem fund to pay for releases that help bugs.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0E32EE-CF9F-5CA6-73F0-AA7D23BC3149}"/>
              </a:ext>
            </a:extLst>
          </p:cNvPr>
          <p:cNvGrpSpPr/>
          <p:nvPr/>
        </p:nvGrpSpPr>
        <p:grpSpPr>
          <a:xfrm>
            <a:off x="7736541" y="2263396"/>
            <a:ext cx="4239227" cy="3403915"/>
            <a:chOff x="7838822" y="1912201"/>
            <a:chExt cx="4239227" cy="340391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E6439B4-4BEA-E350-862E-F77EAF19B8BD}"/>
                </a:ext>
              </a:extLst>
            </p:cNvPr>
            <p:cNvGrpSpPr/>
            <p:nvPr/>
          </p:nvGrpSpPr>
          <p:grpSpPr>
            <a:xfrm>
              <a:off x="7838822" y="1912201"/>
              <a:ext cx="4239227" cy="3403915"/>
              <a:chOff x="7838822" y="1912201"/>
              <a:chExt cx="4239227" cy="3403915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6E3594C-BB08-0CCE-04D2-2C72A2A143A4}"/>
                  </a:ext>
                </a:extLst>
              </p:cNvPr>
              <p:cNvSpPr/>
              <p:nvPr/>
            </p:nvSpPr>
            <p:spPr>
              <a:xfrm>
                <a:off x="7838822" y="1912201"/>
                <a:ext cx="4239227" cy="34039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087AEFB-A2C4-7CCC-C614-BBE176FA3E2C}"/>
                  </a:ext>
                </a:extLst>
              </p:cNvPr>
              <p:cNvGrpSpPr/>
              <p:nvPr/>
            </p:nvGrpSpPr>
            <p:grpSpPr>
              <a:xfrm>
                <a:off x="7998096" y="1947053"/>
                <a:ext cx="4079953" cy="3218256"/>
                <a:chOff x="8168426" y="1005760"/>
                <a:chExt cx="4079953" cy="3218256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528CB1C-B1AD-4699-A7D2-98B015B45F84}"/>
                    </a:ext>
                  </a:extLst>
                </p:cNvPr>
                <p:cNvSpPr/>
                <p:nvPr/>
              </p:nvSpPr>
              <p:spPr>
                <a:xfrm>
                  <a:off x="9353863" y="1251298"/>
                  <a:ext cx="1253143" cy="82839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>
                      <a:solidFill>
                        <a:schemeClr val="tx1"/>
                      </a:solidFill>
                    </a:rPr>
                    <a:t>Revenue</a:t>
                  </a:r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E048742C-031C-B95E-A7C6-8D3BA897E277}"/>
                    </a:ext>
                  </a:extLst>
                </p:cNvPr>
                <p:cNvGrpSpPr/>
                <p:nvPr/>
              </p:nvGrpSpPr>
              <p:grpSpPr>
                <a:xfrm>
                  <a:off x="8168426" y="3128018"/>
                  <a:ext cx="3515229" cy="1095998"/>
                  <a:chOff x="8640911" y="2901208"/>
                  <a:chExt cx="3515229" cy="1095998"/>
                </a:xfrm>
              </p:grpSpPr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5FF10686-3279-71A4-E6AC-68039D863051}"/>
                      </a:ext>
                    </a:extLst>
                  </p:cNvPr>
                  <p:cNvSpPr/>
                  <p:nvPr/>
                </p:nvSpPr>
                <p:spPr>
                  <a:xfrm>
                    <a:off x="8640911" y="2901208"/>
                    <a:ext cx="1157963" cy="1087559"/>
                  </a:xfrm>
                  <a:prstGeom prst="ellipse">
                    <a:avLst/>
                  </a:prstGeom>
                  <a:solidFill>
                    <a:srgbClr val="E1CCF0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Pay down debt</a:t>
                    </a:r>
                  </a:p>
                </p:txBody>
              </p:sp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85195AF8-7A74-767A-63E8-E071FB00C4D0}"/>
                      </a:ext>
                    </a:extLst>
                  </p:cNvPr>
                  <p:cNvSpPr/>
                  <p:nvPr/>
                </p:nvSpPr>
                <p:spPr>
                  <a:xfrm>
                    <a:off x="9833743" y="2909647"/>
                    <a:ext cx="1238352" cy="1070682"/>
                  </a:xfrm>
                  <a:prstGeom prst="ellipse">
                    <a:avLst/>
                  </a:prstGeom>
                  <a:solidFill>
                    <a:srgbClr val="E1CCF0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Raise energy</a:t>
                    </a:r>
                  </a:p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costs</a:t>
                    </a:r>
                  </a:p>
                </p:txBody>
              </p:sp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6C24E984-042F-6976-8632-C9880A1E103A}"/>
                      </a:ext>
                    </a:extLst>
                  </p:cNvPr>
                  <p:cNvSpPr/>
                  <p:nvPr/>
                </p:nvSpPr>
                <p:spPr>
                  <a:xfrm>
                    <a:off x="11106795" y="2909647"/>
                    <a:ext cx="1049345" cy="1087559"/>
                  </a:xfrm>
                  <a:prstGeom prst="ellipse">
                    <a:avLst/>
                  </a:prstGeom>
                  <a:solidFill>
                    <a:srgbClr val="E1CCF0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Bug flows</a:t>
                    </a:r>
                  </a:p>
                </p:txBody>
              </p:sp>
            </p:grpSp>
            <p:cxnSp>
              <p:nvCxnSpPr>
                <p:cNvPr id="9" name="Connector: Elbow 8">
                  <a:extLst>
                    <a:ext uri="{FF2B5EF4-FFF2-40B4-BE49-F238E27FC236}">
                      <a16:creationId xmlns:a16="http://schemas.microsoft.com/office/drawing/2014/main" id="{76CC1D7D-BC1B-5AFB-668A-751DCF51E346}"/>
                    </a:ext>
                  </a:extLst>
                </p:cNvPr>
                <p:cNvCxnSpPr>
                  <a:cxnSpLocks/>
                  <a:stCxn id="7" idx="6"/>
                  <a:endCxn id="4" idx="3"/>
                </p:cNvCxnSpPr>
                <p:nvPr/>
              </p:nvCxnSpPr>
              <p:spPr>
                <a:xfrm flipH="1" flipV="1">
                  <a:off x="10607006" y="1665496"/>
                  <a:ext cx="1076649" cy="2014741"/>
                </a:xfrm>
                <a:prstGeom prst="bentConnector3">
                  <a:avLst>
                    <a:gd name="adj1" fmla="val -21233"/>
                  </a:avLst>
                </a:prstGeom>
                <a:ln w="19050">
                  <a:prstDash val="sysDash"/>
                  <a:tailEnd type="triangle" w="lg" len="lg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" name="Left Brace 9">
                  <a:extLst>
                    <a:ext uri="{FF2B5EF4-FFF2-40B4-BE49-F238E27FC236}">
                      <a16:creationId xmlns:a16="http://schemas.microsoft.com/office/drawing/2014/main" id="{37B0109B-1BD9-E218-4EC6-B749CB543576}"/>
                    </a:ext>
                  </a:extLst>
                </p:cNvPr>
                <p:cNvSpPr/>
                <p:nvPr/>
              </p:nvSpPr>
              <p:spPr>
                <a:xfrm rot="5400000">
                  <a:off x="9703061" y="1598361"/>
                  <a:ext cx="468633" cy="2375647"/>
                </a:xfrm>
                <a:prstGeom prst="leftBrace">
                  <a:avLst>
                    <a:gd name="adj1" fmla="val 5471"/>
                    <a:gd name="adj2" fmla="val 48157"/>
                  </a:avLst>
                </a:prstGeom>
                <a:ln w="28575">
                  <a:solidFill>
                    <a:srgbClr val="1000D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CB27EC-2CA8-EBD9-B3BF-3CB7CDD75145}"/>
                    </a:ext>
                  </a:extLst>
                </p:cNvPr>
                <p:cNvSpPr txBox="1"/>
                <p:nvPr/>
              </p:nvSpPr>
              <p:spPr>
                <a:xfrm>
                  <a:off x="11090416" y="1005760"/>
                  <a:ext cx="1157963" cy="64633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Negative Feedback</a:t>
                  </a:r>
                </a:p>
              </p:txBody>
            </p:sp>
          </p:grp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0A2D2AA-8558-E4D3-9E63-8BB42779E602}"/>
                </a:ext>
              </a:extLst>
            </p:cNvPr>
            <p:cNvCxnSpPr>
              <a:cxnSpLocks/>
              <a:stCxn id="4" idx="2"/>
              <a:endCxn id="10" idx="1"/>
            </p:cNvCxnSpPr>
            <p:nvPr/>
          </p:nvCxnSpPr>
          <p:spPr>
            <a:xfrm>
              <a:off x="9810105" y="3020986"/>
              <a:ext cx="726" cy="472175"/>
            </a:xfrm>
            <a:prstGeom prst="line">
              <a:avLst/>
            </a:prstGeom>
            <a:ln w="28575">
              <a:solidFill>
                <a:srgbClr val="1000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3372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57A-802C-42E0-BD1C-D48AB46B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31" y="365125"/>
            <a:ext cx="10515600" cy="98682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1000D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Idea 1. Quantify Hydropower – Bug</a:t>
            </a:r>
            <a:r>
              <a:rPr lang="en-US" sz="3200" b="1" dirty="0">
                <a:solidFill>
                  <a:srgbClr val="1000DE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conflict</a:t>
            </a:r>
            <a:r>
              <a:rPr lang="en-US" sz="3200" b="1" dirty="0">
                <a:solidFill>
                  <a:srgbClr val="1000D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AA33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(August)</a:t>
            </a:r>
            <a:endParaRPr lang="en-US" sz="3200" b="1" dirty="0">
              <a:solidFill>
                <a:srgbClr val="AA3377"/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A86C7E-70E9-C288-C177-A3C8F1CAA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3" y="1631771"/>
            <a:ext cx="9665702" cy="5011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43039D-E60D-E38D-D326-CBD93074F7F1}"/>
              </a:ext>
            </a:extLst>
          </p:cNvPr>
          <p:cNvSpPr txBox="1"/>
          <p:nvPr/>
        </p:nvSpPr>
        <p:spPr>
          <a:xfrm>
            <a:off x="8597153" y="2071289"/>
            <a:ext cx="3397624" cy="31700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MAX Revenue</a:t>
            </a:r>
          </a:p>
          <a:p>
            <a:pPr algn="ctr"/>
            <a:r>
              <a:rPr lang="en-US" sz="2000" b="1" dirty="0"/>
              <a:t>for Steady Days, Month, Monthly release volume</a:t>
            </a:r>
          </a:p>
          <a:p>
            <a:endParaRPr lang="en-US" sz="2000" dirty="0"/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2000" dirty="0"/>
              <a:t>2 flow patterns, 3 day-types, 2 periods per day-type.</a:t>
            </a:r>
          </a:p>
          <a:p>
            <a:endParaRPr lang="en-US" sz="2000" dirty="0"/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2000" dirty="0"/>
              <a:t>12 choices per month. Compare to 720 hourly choices.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F8AA49-4B5C-A140-FB88-74768CECD7C2}"/>
              </a:ext>
            </a:extLst>
          </p:cNvPr>
          <p:cNvGrpSpPr/>
          <p:nvPr/>
        </p:nvGrpSpPr>
        <p:grpSpPr>
          <a:xfrm>
            <a:off x="4903333" y="1622612"/>
            <a:ext cx="1120950" cy="3541059"/>
            <a:chOff x="5414321" y="1622612"/>
            <a:chExt cx="1120950" cy="354105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1F8DF1-D373-CCA8-BF63-2480ADDE2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271" y="1622612"/>
              <a:ext cx="0" cy="3541059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C6D0732E-0381-3977-0D00-249B4029EF03}"/>
                </a:ext>
              </a:extLst>
            </p:cNvPr>
            <p:cNvSpPr/>
            <p:nvPr/>
          </p:nvSpPr>
          <p:spPr>
            <a:xfrm rot="5400000">
              <a:off x="5844635" y="2061533"/>
              <a:ext cx="260322" cy="1120950"/>
            </a:xfrm>
            <a:prstGeom prst="leftBrace">
              <a:avLst>
                <a:gd name="adj1" fmla="val 20664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3D89CC-91C5-00F9-BD1E-C6B936AFBBE2}"/>
                </a:ext>
              </a:extLst>
            </p:cNvPr>
            <p:cNvSpPr txBox="1"/>
            <p:nvPr/>
          </p:nvSpPr>
          <p:spPr>
            <a:xfrm>
              <a:off x="5611555" y="2064391"/>
              <a:ext cx="726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Loss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515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57A-802C-42E0-BD1C-D48AB46B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66" y="951754"/>
            <a:ext cx="10515600" cy="98682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1000D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Idea 2. Shift Days of Steady Releases to Spring/Fall Months</a:t>
            </a:r>
            <a:br>
              <a:rPr lang="en-US" sz="3200" b="1" dirty="0">
                <a:solidFill>
                  <a:srgbClr val="1000D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br>
              <a:rPr lang="en-US" sz="3200" b="1" dirty="0">
                <a:solidFill>
                  <a:srgbClr val="1000D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Revenue loss</a:t>
            </a:r>
            <a:b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($ million)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05377C-86DC-B650-8E50-1A929FAEA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49" y="2651830"/>
            <a:ext cx="8483532" cy="285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9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57A-802C-42E0-BD1C-D48AB46B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66" y="951754"/>
            <a:ext cx="10515600" cy="98682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1000D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Idea 3. Create Eco Budget, Let Ecologists pick Months &amp; No. of Days </a:t>
            </a:r>
            <a:br>
              <a:rPr lang="en-US" sz="3200" b="1" dirty="0">
                <a:solidFill>
                  <a:srgbClr val="1000D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br>
              <a:rPr lang="en-US" sz="3200" b="1" dirty="0">
                <a:solidFill>
                  <a:srgbClr val="1000DE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Revenue loss</a:t>
            </a:r>
            <a:b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($ million)</a:t>
            </a:r>
            <a:endParaRPr lang="en-US" sz="3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05377C-86DC-B650-8E50-1A929FAEA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49" y="2651830"/>
            <a:ext cx="8483532" cy="28571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3540175-9151-9A3B-CBF7-D18CE0B47CD6}"/>
              </a:ext>
            </a:extLst>
          </p:cNvPr>
          <p:cNvSpPr/>
          <p:nvPr/>
        </p:nvSpPr>
        <p:spPr>
          <a:xfrm>
            <a:off x="6208889" y="3668889"/>
            <a:ext cx="1343378" cy="903111"/>
          </a:xfrm>
          <a:prstGeom prst="rect">
            <a:avLst/>
          </a:prstGeom>
          <a:noFill/>
          <a:ln w="57150">
            <a:solidFill>
              <a:srgbClr val="1000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8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57A-802C-42E0-BD1C-D48AB46B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14" y="263115"/>
            <a:ext cx="510988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1000DE"/>
                </a:solidFill>
                <a:latin typeface="+mn-lt"/>
              </a:rPr>
              <a:t>Next Steps</a:t>
            </a:r>
            <a:endParaRPr lang="en-US" sz="4000" b="1" u="sng" dirty="0">
              <a:solidFill>
                <a:srgbClr val="1000DE"/>
              </a:solidFill>
              <a:latin typeface="+mn-lt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9B8D169-3B0D-2ABA-2E7B-CA1318C012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90696" y="1635427"/>
            <a:ext cx="4953000" cy="345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1175" indent="-511175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573088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Present to TWG</a:t>
            </a:r>
          </a:p>
          <a:p>
            <a:pPr marL="511175" indent="-511175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573088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Update energy prices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11175" indent="-511175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573088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Validate with GT-Max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573088" algn="l"/>
              </a:tabLst>
            </a:pPr>
            <a:endParaRPr lang="en-US" sz="100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ctr">
              <a:lnSpc>
                <a:spcPts val="3400"/>
              </a:lnSpc>
              <a:spcBef>
                <a:spcPts val="0"/>
              </a:spcBef>
              <a:buNone/>
              <a:tabLst>
                <a:tab pos="573088" algn="l"/>
              </a:tabLst>
            </a:pPr>
            <a:r>
              <a:rPr lang="en-U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May also help move sediment and control invasive fish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49C2E2-942E-302B-7A11-77734E57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696" y="1599100"/>
            <a:ext cx="6463390" cy="3664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76BBE9-B4E8-070A-83BD-568972BBA54F}"/>
              </a:ext>
            </a:extLst>
          </p:cNvPr>
          <p:cNvSpPr txBox="1"/>
          <p:nvPr/>
        </p:nvSpPr>
        <p:spPr>
          <a:xfrm>
            <a:off x="6446325" y="1026219"/>
            <a:ext cx="465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More at </a:t>
            </a:r>
            <a:r>
              <a:rPr lang="en-US" sz="2400" b="1" dirty="0">
                <a:solidFill>
                  <a:srgbClr val="1000DE"/>
                </a:solidFill>
              </a:rPr>
              <a:t>http://rosenberg.usu.edu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F4D9657-4EFF-E635-4935-AB6FB64EF28A}"/>
                  </a:ext>
                </a:extLst>
              </p14:cNvPr>
              <p14:cNvContentPartPr/>
              <p14:nvPr/>
            </p14:nvContentPartPr>
            <p14:xfrm>
              <a:off x="703729" y="1588678"/>
              <a:ext cx="587189" cy="424985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F4D9657-4EFF-E635-4935-AB6FB64EF2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099" y="1552693"/>
                <a:ext cx="622809" cy="496596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Subtitle 2">
            <a:extLst>
              <a:ext uri="{FF2B5EF4-FFF2-40B4-BE49-F238E27FC236}">
                <a16:creationId xmlns:a16="http://schemas.microsoft.com/office/drawing/2014/main" id="{48DCC7D6-09A1-BAE7-AB2B-D8CEABDBAD6D}"/>
              </a:ext>
            </a:extLst>
          </p:cNvPr>
          <p:cNvSpPr txBox="1">
            <a:spLocks/>
          </p:cNvSpPr>
          <p:nvPr/>
        </p:nvSpPr>
        <p:spPr>
          <a:xfrm>
            <a:off x="7103474" y="5443925"/>
            <a:ext cx="3343835" cy="6354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7030A0"/>
                </a:solidFill>
                <a:hlinkClick r:id="rId5"/>
              </a:rPr>
              <a:t>david.rosenberg@usu.edu</a:t>
            </a:r>
            <a:endParaRPr lang="en-US" sz="2200" b="1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650B7F-EDF0-B595-375C-64A6B109AB5D}"/>
              </a:ext>
            </a:extLst>
          </p:cNvPr>
          <p:cNvSpPr txBox="1"/>
          <p:nvPr/>
        </p:nvSpPr>
        <p:spPr>
          <a:xfrm>
            <a:off x="1249685" y="5412904"/>
            <a:ext cx="3635022" cy="950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400"/>
              </a:lnSpc>
              <a:spcBef>
                <a:spcPts val="0"/>
              </a:spcBef>
              <a:buNone/>
              <a:tabLst>
                <a:tab pos="573088" algn="l"/>
              </a:tabLst>
            </a:pP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Reduce stress, increase collaboration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823F65-E5CB-04A1-DB97-A56621AAE1AA}"/>
              </a:ext>
            </a:extLst>
          </p:cNvPr>
          <p:cNvCxnSpPr>
            <a:cxnSpLocks/>
          </p:cNvCxnSpPr>
          <p:nvPr/>
        </p:nvCxnSpPr>
        <p:spPr>
          <a:xfrm flipV="1">
            <a:off x="5892800" y="5000978"/>
            <a:ext cx="417689" cy="620889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57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F94EF33-92A0-EA77-C476-3E97E096A698}"/>
              </a:ext>
            </a:extLst>
          </p:cNvPr>
          <p:cNvGrpSpPr/>
          <p:nvPr/>
        </p:nvGrpSpPr>
        <p:grpSpPr>
          <a:xfrm>
            <a:off x="3706091" y="1922878"/>
            <a:ext cx="4239227" cy="3403915"/>
            <a:chOff x="3429955" y="1912201"/>
            <a:chExt cx="4239227" cy="340391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6DE778-A4AC-68D4-A2BD-119836A4CE7A}"/>
                </a:ext>
              </a:extLst>
            </p:cNvPr>
            <p:cNvSpPr/>
            <p:nvPr/>
          </p:nvSpPr>
          <p:spPr>
            <a:xfrm>
              <a:off x="3429955" y="1912201"/>
              <a:ext cx="4239227" cy="34039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CAEA56-39CF-9BC5-C5F6-BD73091B2892}"/>
                </a:ext>
              </a:extLst>
            </p:cNvPr>
            <p:cNvGrpSpPr/>
            <p:nvPr/>
          </p:nvGrpSpPr>
          <p:grpSpPr>
            <a:xfrm>
              <a:off x="3589229" y="2173971"/>
              <a:ext cx="3515229" cy="2991338"/>
              <a:chOff x="3589229" y="2173971"/>
              <a:chExt cx="3515229" cy="299133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4CE65E8-54D1-58D2-2E74-4B4E69DA566E}"/>
                  </a:ext>
                </a:extLst>
              </p:cNvPr>
              <p:cNvSpPr/>
              <p:nvPr/>
            </p:nvSpPr>
            <p:spPr>
              <a:xfrm>
                <a:off x="4168210" y="2184399"/>
                <a:ext cx="1253143" cy="81796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Revenue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D0C585D-E135-F87B-CF41-D913BF09C30B}"/>
                  </a:ext>
                </a:extLst>
              </p:cNvPr>
              <p:cNvGrpSpPr/>
              <p:nvPr/>
            </p:nvGrpSpPr>
            <p:grpSpPr>
              <a:xfrm>
                <a:off x="3589229" y="4069311"/>
                <a:ext cx="3515229" cy="1095998"/>
                <a:chOff x="8640911" y="2901208"/>
                <a:chExt cx="3515229" cy="1095998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A600EBA9-029F-FEC6-C36B-19985A986F4C}"/>
                    </a:ext>
                  </a:extLst>
                </p:cNvPr>
                <p:cNvSpPr/>
                <p:nvPr/>
              </p:nvSpPr>
              <p:spPr>
                <a:xfrm>
                  <a:off x="8640911" y="2901208"/>
                  <a:ext cx="1157963" cy="1087559"/>
                </a:xfrm>
                <a:prstGeom prst="ellipse">
                  <a:avLst/>
                </a:prstGeom>
                <a:solidFill>
                  <a:srgbClr val="E1CCF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Pay down debt</a:t>
                  </a: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DAE511FB-CE36-A893-1DBE-EBFD354AEFF4}"/>
                    </a:ext>
                  </a:extLst>
                </p:cNvPr>
                <p:cNvSpPr/>
                <p:nvPr/>
              </p:nvSpPr>
              <p:spPr>
                <a:xfrm>
                  <a:off x="9833743" y="2909647"/>
                  <a:ext cx="1238352" cy="1070682"/>
                </a:xfrm>
                <a:prstGeom prst="ellipse">
                  <a:avLst/>
                </a:prstGeom>
                <a:solidFill>
                  <a:srgbClr val="E1CCF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Low-cost energy</a:t>
                  </a: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F576787-BBA2-4A30-1E28-52A59A084131}"/>
                    </a:ext>
                  </a:extLst>
                </p:cNvPr>
                <p:cNvSpPr/>
                <p:nvPr/>
              </p:nvSpPr>
              <p:spPr>
                <a:xfrm>
                  <a:off x="11106795" y="2909647"/>
                  <a:ext cx="1049345" cy="1087559"/>
                </a:xfrm>
                <a:prstGeom prst="ellipse">
                  <a:avLst/>
                </a:prstGeom>
                <a:solidFill>
                  <a:srgbClr val="E1CCF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Bug flows</a:t>
                  </a:r>
                </a:p>
              </p:txBody>
            </p:sp>
          </p:grpSp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470C46DE-8F10-E878-0287-3FEB3519689D}"/>
                  </a:ext>
                </a:extLst>
              </p:cNvPr>
              <p:cNvSpPr/>
              <p:nvPr/>
            </p:nvSpPr>
            <p:spPr>
              <a:xfrm rot="5400000">
                <a:off x="5123864" y="2539654"/>
                <a:ext cx="468633" cy="2375647"/>
              </a:xfrm>
              <a:prstGeom prst="leftBrace">
                <a:avLst>
                  <a:gd name="adj1" fmla="val 5471"/>
                  <a:gd name="adj2" fmla="val 48157"/>
                </a:avLst>
              </a:prstGeom>
              <a:ln w="28575">
                <a:solidFill>
                  <a:srgbClr val="1000D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8809B72-BC7A-AEED-897B-6FD295EA109B}"/>
                  </a:ext>
                </a:extLst>
              </p:cNvPr>
              <p:cNvCxnSpPr>
                <a:cxnSpLocks/>
                <a:stCxn id="7" idx="2"/>
                <a:endCxn id="9" idx="1"/>
              </p:cNvCxnSpPr>
              <p:nvPr/>
            </p:nvCxnSpPr>
            <p:spPr>
              <a:xfrm>
                <a:off x="4794782" y="3002366"/>
                <a:ext cx="607182" cy="490795"/>
              </a:xfrm>
              <a:prstGeom prst="line">
                <a:avLst/>
              </a:prstGeom>
              <a:ln w="28575">
                <a:solidFill>
                  <a:srgbClr val="1000D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0F989F4-D2B1-D537-8ABA-669640CE4190}"/>
                  </a:ext>
                </a:extLst>
              </p:cNvPr>
              <p:cNvSpPr/>
              <p:nvPr/>
            </p:nvSpPr>
            <p:spPr>
              <a:xfrm>
                <a:off x="5570877" y="2173971"/>
                <a:ext cx="1253143" cy="8283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b="1" dirty="0">
                    <a:solidFill>
                      <a:schemeClr val="tx1"/>
                    </a:solidFill>
                  </a:rPr>
                  <a:t>Eco fund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034D9D7-BE34-667C-0BAA-FE2638291280}"/>
                  </a:ext>
                </a:extLst>
              </p:cNvPr>
              <p:cNvCxnSpPr>
                <a:cxnSpLocks/>
                <a:stCxn id="11" idx="2"/>
                <a:endCxn id="9" idx="1"/>
              </p:cNvCxnSpPr>
              <p:nvPr/>
            </p:nvCxnSpPr>
            <p:spPr>
              <a:xfrm flipH="1">
                <a:off x="5401964" y="3002366"/>
                <a:ext cx="795485" cy="490795"/>
              </a:xfrm>
              <a:prstGeom prst="line">
                <a:avLst/>
              </a:prstGeom>
              <a:ln w="28575">
                <a:solidFill>
                  <a:srgbClr val="1000D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8602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57A-802C-42E0-BD1C-D48AB46B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61" y="219283"/>
            <a:ext cx="10515600" cy="98682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1000D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Flow offset =&gt; point of collaboration</a:t>
            </a:r>
            <a:endParaRPr lang="en-US" sz="3200" b="1" dirty="0">
              <a:solidFill>
                <a:srgbClr val="1000DE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D7999-8AFD-5354-E2F2-1EFCAD90F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3" y="1272988"/>
            <a:ext cx="9341327" cy="5464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19ADC9-5F73-77B5-DE37-70E58A742505}"/>
              </a:ext>
            </a:extLst>
          </p:cNvPr>
          <p:cNvSpPr txBox="1"/>
          <p:nvPr/>
        </p:nvSpPr>
        <p:spPr>
          <a:xfrm>
            <a:off x="2285999" y="4258235"/>
            <a:ext cx="2770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0.83 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</a:rPr>
              <a:t>maf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 per month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99B9D7-4253-A1C7-1530-DD88F4F0E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329" y="1909483"/>
            <a:ext cx="4413343" cy="320386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A5CAE9-42FF-B0E8-1CD3-9A45948DF466}"/>
              </a:ext>
            </a:extLst>
          </p:cNvPr>
          <p:cNvCxnSpPr>
            <a:cxnSpLocks/>
          </p:cNvCxnSpPr>
          <p:nvPr/>
        </p:nvCxnSpPr>
        <p:spPr>
          <a:xfrm>
            <a:off x="10386344" y="4354596"/>
            <a:ext cx="0" cy="268941"/>
          </a:xfrm>
          <a:prstGeom prst="straightConnector1">
            <a:avLst/>
          </a:prstGeom>
          <a:ln w="28575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CE7164-610D-7AD9-A8EA-BB101DD51FFC}"/>
              </a:ext>
            </a:extLst>
          </p:cNvPr>
          <p:cNvCxnSpPr/>
          <p:nvPr/>
        </p:nvCxnSpPr>
        <p:spPr>
          <a:xfrm>
            <a:off x="10244784" y="4623537"/>
            <a:ext cx="695496" cy="0"/>
          </a:xfrm>
          <a:prstGeom prst="line">
            <a:avLst/>
          </a:prstGeom>
          <a:ln w="28575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8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3403</TotalTime>
  <Words>328</Words>
  <Application>Microsoft Office PowerPoint</Application>
  <PresentationFormat>Widescreen</PresentationFormat>
  <Paragraphs>55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Bugs pay for days of steady reservoir releases to reduce costs to hydropower customers and sustain funds to maintain infrastructure</vt:lpstr>
      <vt:lpstr>Key Ideas</vt:lpstr>
      <vt:lpstr>Idea 1. Quantify Hydropower – Bug conflict (August)</vt:lpstr>
      <vt:lpstr>Idea 2. Shift Days of Steady Releases to Spring/Fall Months  Revenue loss ($ million)</vt:lpstr>
      <vt:lpstr>Idea 3. Create Eco Budget, Let Ecologists pick Months &amp; No. of Days   Revenue loss ($ million)</vt:lpstr>
      <vt:lpstr>Next Steps</vt:lpstr>
      <vt:lpstr>PowerPoint Presentation</vt:lpstr>
      <vt:lpstr>Flow offset =&gt; point of collaboration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drosenberg</dc:creator>
  <cp:lastModifiedBy>David Rosenberg</cp:lastModifiedBy>
  <cp:revision>196</cp:revision>
  <dcterms:created xsi:type="dcterms:W3CDTF">2018-11-02T21:37:05Z</dcterms:created>
  <dcterms:modified xsi:type="dcterms:W3CDTF">2023-04-12T23:43:30Z</dcterms:modified>
</cp:coreProperties>
</file>